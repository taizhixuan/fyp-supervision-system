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9975" cy="428053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279975" cy="42805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10225" y="438150"/>
            <a:ext cx="19050000" cy="1619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0" b="1">
                <a:solidFill>
                  <a:srgbClr val="FFFFFF"/>
                </a:solidFill>
                <a:latin typeface="Arial"/>
              </a:rPr>
              <a:t>FYP Supervision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57725" y="2209800"/>
            <a:ext cx="20955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900" b="0">
                <a:solidFill>
                  <a:srgbClr val="FFFFFF"/>
                </a:solidFill>
                <a:latin typeface="Arial"/>
              </a:rPr>
              <a:t>An </a:t>
            </a:r>
            <a:r>
              <a:rPr sz="3900" b="1">
                <a:solidFill>
                  <a:srgbClr val="CFE6FF"/>
                </a:solidFill>
                <a:latin typeface="Arial"/>
              </a:rPr>
              <a:t>AI-Assisted</a:t>
            </a:r>
            <a:r>
              <a:rPr sz="3900" b="0">
                <a:solidFill>
                  <a:srgbClr val="FFFFFF"/>
                </a:solidFill>
                <a:latin typeface="Arial"/>
              </a:rPr>
              <a:t> Supervision Platform with </a:t>
            </a:r>
            <a:r>
              <a:rPr sz="3900" b="1">
                <a:solidFill>
                  <a:srgbClr val="CFE6FF"/>
                </a:solidFill>
                <a:latin typeface="Arial"/>
              </a:rPr>
              <a:t>Signed Meeting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0" y="3390900"/>
            <a:ext cx="9324975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FYP02-SE-T2610-0001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425" y="4914900"/>
            <a:ext cx="49530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FFFFFF"/>
                </a:solidFill>
                <a:latin typeface="Arial"/>
              </a:rPr>
              <a:t>Student Name: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0125" y="4762500"/>
            <a:ext cx="72390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Arial"/>
              </a:rPr>
              <a:t>Tai Zhi Xuan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64150" y="4953000"/>
            <a:ext cx="49530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FFFFFF"/>
                </a:solidFill>
                <a:latin typeface="Arial"/>
              </a:rPr>
              <a:t>Student ID: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16750" y="4762500"/>
            <a:ext cx="72390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Arial"/>
              </a:rPr>
              <a:t>1211109038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3450" y="6019800"/>
            <a:ext cx="49530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FFFFFF"/>
                </a:solidFill>
                <a:latin typeface="Arial"/>
              </a:rPr>
              <a:t>Supervisor: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7500" y="6438900"/>
            <a:ext cx="72390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Arial"/>
              </a:rPr>
              <a:t>Dr. Yeoh Eng Thiam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02775" y="5943600"/>
            <a:ext cx="49530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0">
                <a:solidFill>
                  <a:srgbClr val="FFFFFF"/>
                </a:solidFill>
                <a:latin typeface="Arial"/>
              </a:rPr>
              <a:t>Moderator: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54925" y="6438900"/>
            <a:ext cx="72390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Arial"/>
              </a:rPr>
              <a:t>Mr. Chan Ming 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00250" y="8420100"/>
            <a:ext cx="3429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FFFFFF"/>
                </a:solidFill>
                <a:latin typeface="Arial"/>
              </a:rPr>
              <a:t>Introduction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97250" y="8477250"/>
            <a:ext cx="3429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FFFFFF"/>
                </a:solidFill>
                <a:latin typeface="Arial"/>
              </a:rPr>
              <a:t>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3125" y="15106650"/>
            <a:ext cx="4191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FFFFFF"/>
                </a:solidFill>
                <a:latin typeface="Arial"/>
              </a:rPr>
              <a:t>Key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1574125"/>
            <a:ext cx="5334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FFFFFF"/>
                </a:solidFill>
                <a:latin typeface="Arial"/>
              </a:rPr>
              <a:t>Architecture &amp;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00250" y="30641925"/>
            <a:ext cx="3429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FFFFFF"/>
                </a:solidFill>
                <a:latin typeface="Arial"/>
              </a:rPr>
              <a:t>Methodology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97250" y="30613350"/>
            <a:ext cx="3429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50" b="1">
                <a:solidFill>
                  <a:srgbClr val="FFFFFF"/>
                </a:solidFill>
                <a:latin typeface="Arial"/>
              </a:rPr>
              <a:t>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50" y="9448800"/>
            <a:ext cx="11658600" cy="4629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2700" b="0">
                <a:solidFill>
                  <a:srgbClr val="15314A"/>
                </a:solidFill>
                <a:latin typeface="Arial"/>
              </a:rPr>
              <a:t>Every MMU FCI student must complete a </a:t>
            </a:r>
            <a:r>
              <a:rPr sz="2700" b="1">
                <a:solidFill>
                  <a:srgbClr val="035B98"/>
                </a:solidFill>
                <a:latin typeface="Arial"/>
              </a:rPr>
              <a:t>Final Year Project</a:t>
            </a:r>
            <a:r>
              <a:rPr sz="2700" b="0">
                <a:solidFill>
                  <a:srgbClr val="15314A"/>
                </a:solidFill>
                <a:latin typeface="Arial"/>
              </a:rPr>
              <a:t>, yet supervision still runs across </a:t>
            </a:r>
            <a:r>
              <a:rPr sz="2700" b="1">
                <a:solidFill>
                  <a:srgbClr val="035B98"/>
                </a:solidFill>
                <a:latin typeface="Arial"/>
              </a:rPr>
              <a:t>disconnected tools</a:t>
            </a:r>
            <a:r>
              <a:rPr sz="2700" b="0">
                <a:solidFill>
                  <a:srgbClr val="15314A"/>
                </a:solidFill>
                <a:latin typeface="Arial"/>
              </a:rPr>
              <a:t> like email, Teams and spreadsheets, leaving its history fragmented and prone to last-minute rushes near submission.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0">
                <a:solidFill>
                  <a:srgbClr val="035B98"/>
                </a:solidFill>
                <a:latin typeface="Arial"/>
              </a:rPr>
              <a:t>◆  </a:t>
            </a:r>
            <a:r>
              <a:rPr sz="2475" b="0">
                <a:solidFill>
                  <a:srgbClr val="15314A"/>
                </a:solidFill>
                <a:latin typeface="Arial"/>
              </a:rPr>
              <a:t>Feedback is verbal or buried in email threads, so required revisions get missed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0">
                <a:solidFill>
                  <a:srgbClr val="035B98"/>
                </a:solidFill>
                <a:latin typeface="Arial"/>
              </a:rPr>
              <a:t>◆  </a:t>
            </a:r>
            <a:r>
              <a:rPr sz="2475" b="0">
                <a:solidFill>
                  <a:srgbClr val="15314A"/>
                </a:solidFill>
                <a:latin typeface="Arial"/>
              </a:rPr>
              <a:t>Meeting outcomes are remembered rather than recorded, weakening accountability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0">
                <a:solidFill>
                  <a:srgbClr val="035B98"/>
                </a:solidFill>
                <a:latin typeface="Arial"/>
              </a:rPr>
              <a:t>◆  </a:t>
            </a:r>
            <a:r>
              <a:rPr sz="2475" b="0">
                <a:solidFill>
                  <a:srgbClr val="15314A"/>
                </a:solidFill>
                <a:latin typeface="Arial"/>
              </a:rPr>
              <a:t>Proposal reviews go to structure and formatting instead of the research 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87625" y="9448800"/>
            <a:ext cx="12630150" cy="4629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2850" b="1">
                <a:solidFill>
                  <a:srgbClr val="035B98"/>
                </a:solidFill>
                <a:latin typeface="Arial"/>
              </a:rPr>
              <a:t>1.  </a:t>
            </a:r>
            <a:r>
              <a:rPr sz="2850" b="0">
                <a:solidFill>
                  <a:srgbClr val="15314A"/>
                </a:solidFill>
                <a:latin typeface="Arial"/>
              </a:rPr>
              <a:t>Study current FCI supervision practice and capture system </a:t>
            </a:r>
            <a:r>
              <a:rPr sz="2850" b="1">
                <a:solidFill>
                  <a:srgbClr val="035B98"/>
                </a:solidFill>
                <a:latin typeface="Arial"/>
              </a:rPr>
              <a:t>requirements</a:t>
            </a:r>
            <a:r>
              <a:rPr sz="2850" b="0">
                <a:solidFill>
                  <a:srgbClr val="15314A"/>
                </a:solidFill>
                <a:latin typeface="Arial"/>
              </a:rPr>
              <a:t>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2850" b="1">
                <a:solidFill>
                  <a:srgbClr val="035B98"/>
                </a:solidFill>
                <a:latin typeface="Arial"/>
              </a:rPr>
              <a:t>2.  </a:t>
            </a:r>
            <a:r>
              <a:rPr sz="2850" b="0">
                <a:solidFill>
                  <a:srgbClr val="15314A"/>
                </a:solidFill>
                <a:latin typeface="Arial"/>
              </a:rPr>
              <a:t>Design a </a:t>
            </a:r>
            <a:r>
              <a:rPr sz="2850" b="1">
                <a:solidFill>
                  <a:srgbClr val="035B98"/>
                </a:solidFill>
                <a:latin typeface="Arial"/>
              </a:rPr>
              <a:t>secure, role-based</a:t>
            </a:r>
            <a:r>
              <a:rPr sz="2850" b="0">
                <a:solidFill>
                  <a:srgbClr val="15314A"/>
                </a:solidFill>
                <a:latin typeface="Arial"/>
              </a:rPr>
              <a:t> web platform for four user groups.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2850" b="1">
                <a:solidFill>
                  <a:srgbClr val="035B98"/>
                </a:solidFill>
                <a:latin typeface="Arial"/>
              </a:rPr>
              <a:t>3.  </a:t>
            </a:r>
            <a:r>
              <a:rPr sz="2850" b="0">
                <a:solidFill>
                  <a:srgbClr val="15314A"/>
                </a:solidFill>
                <a:latin typeface="Arial"/>
              </a:rPr>
              <a:t>Build the </a:t>
            </a:r>
            <a:r>
              <a:rPr sz="2850" b="1">
                <a:solidFill>
                  <a:srgbClr val="035B98"/>
                </a:solidFill>
                <a:latin typeface="Arial"/>
              </a:rPr>
              <a:t>core supervision workflow</a:t>
            </a:r>
            <a:r>
              <a:rPr sz="2850" b="0">
                <a:solidFill>
                  <a:srgbClr val="15314A"/>
                </a:solidFill>
                <a:latin typeface="Arial"/>
              </a:rPr>
              <a:t> end to end.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2850" b="1">
                <a:solidFill>
                  <a:srgbClr val="035B98"/>
                </a:solidFill>
                <a:latin typeface="Arial"/>
              </a:rPr>
              <a:t>4.  </a:t>
            </a:r>
            <a:r>
              <a:rPr sz="2850" b="0">
                <a:solidFill>
                  <a:srgbClr val="15314A"/>
                </a:solidFill>
                <a:latin typeface="Arial"/>
              </a:rPr>
              <a:t>Integrate </a:t>
            </a:r>
            <a:r>
              <a:rPr sz="2850" b="1">
                <a:solidFill>
                  <a:srgbClr val="035B98"/>
                </a:solidFill>
                <a:latin typeface="Arial"/>
              </a:rPr>
              <a:t>three AI features</a:t>
            </a:r>
            <a:r>
              <a:rPr sz="2850" b="0">
                <a:solidFill>
                  <a:srgbClr val="15314A"/>
                </a:solidFill>
                <a:latin typeface="Arial"/>
              </a:rPr>
              <a:t>: recommender, proposal checker, chatbot.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2850" b="1">
                <a:solidFill>
                  <a:srgbClr val="035B98"/>
                </a:solidFill>
                <a:latin typeface="Arial"/>
              </a:rPr>
              <a:t>5.  </a:t>
            </a:r>
            <a:r>
              <a:rPr sz="2850" b="1">
                <a:solidFill>
                  <a:srgbClr val="035B98"/>
                </a:solidFill>
                <a:latin typeface="Arial"/>
              </a:rPr>
              <a:t>Test and evaluate</a:t>
            </a:r>
            <a:r>
              <a:rPr sz="2850" b="0">
                <a:solidFill>
                  <a:srgbClr val="15314A"/>
                </a:solidFill>
                <a:latin typeface="Arial"/>
              </a:rPr>
              <a:t> whether it improves the FCI workflow.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16192500"/>
            <a:ext cx="7905750" cy="447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25" b="1">
                <a:solidFill>
                  <a:srgbClr val="035B98"/>
                </a:solidFill>
                <a:latin typeface="Arial"/>
              </a:rPr>
              <a:t>AI Supervisor Recommender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800"/>
              </a:spcAft>
            </a:pPr>
            <a:r>
              <a:rPr sz="2175" b="0">
                <a:solidFill>
                  <a:srgbClr val="15314A"/>
                </a:solidFill>
                <a:latin typeface="Arial"/>
              </a:rPr>
              <a:t>Sentence-BERT match on skills, interests and remaining quota.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25" b="1">
                <a:solidFill>
                  <a:srgbClr val="035B98"/>
                </a:solidFill>
                <a:latin typeface="Arial"/>
              </a:rPr>
              <a:t>AI Proposal Analyzer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800"/>
              </a:spcAft>
            </a:pPr>
            <a:r>
              <a:rPr sz="2175" b="0">
                <a:solidFill>
                  <a:srgbClr val="15314A"/>
                </a:solidFill>
                <a:latin typeface="Arial"/>
              </a:rPr>
              <a:t>DistilBERT plus NLP checks structure and readability pre-submission.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25" b="1">
                <a:solidFill>
                  <a:srgbClr val="035B98"/>
                </a:solidFill>
                <a:latin typeface="Arial"/>
              </a:rPr>
              <a:t>RAG FYP Chatbot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800"/>
              </a:spcAft>
            </a:pPr>
            <a:r>
              <a:rPr sz="2175" b="0">
                <a:solidFill>
                  <a:srgbClr val="15314A"/>
                </a:solidFill>
                <a:latin typeface="Arial"/>
              </a:rPr>
              <a:t>24/7 procedural help from a curated FAISS knowledge base.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1250" y="16192500"/>
            <a:ext cx="7905750" cy="447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25" b="1">
                <a:solidFill>
                  <a:srgbClr val="035B98"/>
                </a:solidFill>
                <a:latin typeface="Arial"/>
              </a:rPr>
              <a:t>Signed Meeting Logs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800"/>
              </a:spcAft>
            </a:pPr>
            <a:r>
              <a:rPr sz="2175" b="0">
                <a:solidFill>
                  <a:srgbClr val="15314A"/>
                </a:solidFill>
                <a:latin typeface="Arial"/>
              </a:rPr>
              <a:t>SHA-256 signatures in DOCX logs with 6-log FCI compliance.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25" b="1">
                <a:solidFill>
                  <a:srgbClr val="035B98"/>
                </a:solidFill>
                <a:latin typeface="Arial"/>
              </a:rPr>
              <a:t>Role-Based Access &amp; Auth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800"/>
              </a:spcAft>
            </a:pPr>
            <a:r>
              <a:rPr sz="2175" b="0">
                <a:solidFill>
                  <a:srgbClr val="15314A"/>
                </a:solidFill>
                <a:latin typeface="Arial"/>
              </a:rPr>
              <a:t>Four roles with JWT, login throttling and password reset.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25" b="1">
                <a:solidFill>
                  <a:srgbClr val="035B98"/>
                </a:solidFill>
                <a:latin typeface="Arial"/>
              </a:rPr>
              <a:t>Supervisor Workspace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800"/>
              </a:spcAft>
            </a:pPr>
            <a:r>
              <a:rPr sz="2175" b="0">
                <a:solidFill>
                  <a:srgbClr val="15314A"/>
                </a:solidFill>
                <a:latin typeface="Arial"/>
              </a:rPr>
              <a:t>Supervisee, availability, feedback and document review.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859500" y="16192500"/>
            <a:ext cx="7905750" cy="447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25" b="1">
                <a:solidFill>
                  <a:srgbClr val="035B98"/>
                </a:solidFill>
                <a:latin typeface="Arial"/>
              </a:rPr>
              <a:t>Announcements &amp; Filter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800"/>
              </a:spcAft>
            </a:pPr>
            <a:r>
              <a:rPr sz="2175" b="0">
                <a:solidFill>
                  <a:srgbClr val="15314A"/>
                </a:solidFill>
                <a:latin typeface="Arial"/>
              </a:rPr>
              <a:t>Programme, phase and student-targeted broadcasts.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25" b="1">
                <a:solidFill>
                  <a:srgbClr val="035B98"/>
                </a:solidFill>
                <a:latin typeface="Arial"/>
              </a:rPr>
              <a:t>Committee Oversight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800"/>
              </a:spcAft>
            </a:pPr>
            <a:r>
              <a:rPr sz="2175" b="0">
                <a:solidFill>
                  <a:srgbClr val="15314A"/>
                </a:solidFill>
                <a:latin typeface="Arial"/>
              </a:rPr>
              <a:t>Progress scoring, risk flags and CSV cohort reports.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25" b="1">
                <a:solidFill>
                  <a:srgbClr val="035B98"/>
                </a:solidFill>
                <a:latin typeface="Arial"/>
              </a:rPr>
              <a:t>Admin Console &amp; Audit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800"/>
              </a:spcAft>
            </a:pPr>
            <a:r>
              <a:rPr sz="2175" b="0">
                <a:solidFill>
                  <a:srgbClr val="15314A"/>
                </a:solidFill>
                <a:latin typeface="Arial"/>
              </a:rPr>
              <a:t>Roster import, system parameters and a full action trail.</a:t>
            </a:r>
          </a:p>
        </p:txBody>
      </p:sp>
      <p:pic>
        <p:nvPicPr>
          <p:cNvPr id="25" name="Picture 24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22764750"/>
            <a:ext cx="7705725" cy="4953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43000" y="27832050"/>
            <a:ext cx="838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5A6B7B"/>
                </a:solidFill>
                <a:latin typeface="Arial"/>
              </a:rPr>
              <a:t>Three-tier: React SPA, Spring Boot API (JWT/RBAC), MySQL and 3 Flask AI microservices</a:t>
            </a:r>
          </a:p>
        </p:txBody>
      </p:sp>
      <p:pic>
        <p:nvPicPr>
          <p:cNvPr id="27" name="Picture 26" descr="shot-ai-recommenda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23241000"/>
            <a:ext cx="4953000" cy="3143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287000" y="26498550"/>
            <a:ext cx="4953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35B98"/>
                </a:solidFill>
                <a:latin typeface="Arial"/>
              </a:rPr>
              <a:t>AI Recommendations</a:t>
            </a:r>
          </a:p>
        </p:txBody>
      </p:sp>
      <p:pic>
        <p:nvPicPr>
          <p:cNvPr id="29" name="Picture 28" descr="shot-proposal-analyz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1000" y="23241000"/>
            <a:ext cx="4953000" cy="31432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5621000" y="26498550"/>
            <a:ext cx="4953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35B98"/>
                </a:solidFill>
                <a:latin typeface="Arial"/>
              </a:rPr>
              <a:t>Proposal Analyzer</a:t>
            </a:r>
          </a:p>
        </p:txBody>
      </p:sp>
      <p:pic>
        <p:nvPicPr>
          <p:cNvPr id="31" name="Picture 30" descr="shot-committee-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0" y="23241000"/>
            <a:ext cx="4953000" cy="31432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0955000" y="26498550"/>
            <a:ext cx="4953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35B98"/>
                </a:solidFill>
                <a:latin typeface="Arial"/>
              </a:rPr>
              <a:t>Committee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28750" y="28860750"/>
            <a:ext cx="24384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035B98"/>
                </a:solidFill>
                <a:latin typeface="Arial"/>
              </a:rPr>
              <a:t>React 18  ·  Spring Boot 3.2  ·  MySQL 8  ·  Flask  ·  Docker  ·  Sentence-BERT  ·  DistilBERT  ·  FAISS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525" y="31642050"/>
            <a:ext cx="13011150" cy="476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2700" b="0">
                <a:solidFill>
                  <a:srgbClr val="15314A"/>
                </a:solidFill>
                <a:latin typeface="Arial"/>
              </a:rPr>
              <a:t>Structured </a:t>
            </a:r>
            <a:r>
              <a:rPr sz="2700" b="1">
                <a:solidFill>
                  <a:srgbClr val="035B98"/>
                </a:solidFill>
                <a:latin typeface="Arial"/>
              </a:rPr>
              <a:t>SDLC</a:t>
            </a:r>
            <a:r>
              <a:rPr sz="2700" b="0">
                <a:solidFill>
                  <a:srgbClr val="15314A"/>
                </a:solidFill>
                <a:latin typeface="Arial"/>
              </a:rPr>
              <a:t> split across two phases: </a:t>
            </a:r>
            <a:r>
              <a:rPr sz="2700" b="1">
                <a:solidFill>
                  <a:srgbClr val="035B98"/>
                </a:solidFill>
                <a:latin typeface="Arial"/>
              </a:rPr>
              <a:t>FYP1</a:t>
            </a:r>
            <a:r>
              <a:rPr sz="2700" b="0">
                <a:solidFill>
                  <a:srgbClr val="15314A"/>
                </a:solidFill>
                <a:latin typeface="Arial"/>
              </a:rPr>
              <a:t> (background, requirements, design) then </a:t>
            </a:r>
            <a:r>
              <a:rPr sz="2700" b="1">
                <a:solidFill>
                  <a:srgbClr val="035B98"/>
                </a:solidFill>
                <a:latin typeface="Arial"/>
              </a:rPr>
              <a:t>FYP2</a:t>
            </a:r>
            <a:r>
              <a:rPr sz="2700" b="0">
                <a:solidFill>
                  <a:srgbClr val="15314A"/>
                </a:solidFill>
                <a:latin typeface="Arial"/>
              </a:rPr>
              <a:t> (build, integrate, test, evaluate).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550" b="1">
                <a:solidFill>
                  <a:srgbClr val="035B98"/>
                </a:solidFill>
                <a:latin typeface="Arial"/>
              </a:rPr>
              <a:t>Requirements  ›  Design  ›  Build  ›  Test  ›  Evaluate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0">
                <a:solidFill>
                  <a:srgbClr val="035B98"/>
                </a:solidFill>
                <a:latin typeface="Arial"/>
              </a:rPr>
              <a:t>◆  </a:t>
            </a:r>
            <a:r>
              <a:rPr sz="2475" b="0">
                <a:solidFill>
                  <a:srgbClr val="15314A"/>
                </a:solidFill>
                <a:latin typeface="Arial"/>
              </a:rPr>
              <a:t>Role-based access enforced from day one across four actor modules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0">
                <a:solidFill>
                  <a:srgbClr val="035B98"/>
                </a:solidFill>
                <a:latin typeface="Arial"/>
              </a:rPr>
              <a:t>◆  </a:t>
            </a:r>
            <a:r>
              <a:rPr sz="2475" b="0">
                <a:solidFill>
                  <a:srgbClr val="15314A"/>
                </a:solidFill>
                <a:latin typeface="Arial"/>
              </a:rPr>
              <a:t>Requirements grounded in a 45-student survey (Nov 2025)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35250" y="31718250"/>
            <a:ext cx="6096000" cy="400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4200" b="1">
                <a:solidFill>
                  <a:srgbClr val="035B98"/>
                </a:solidFill>
                <a:latin typeface="Arial"/>
              </a:rPr>
              <a:t>60</a:t>
            </a:r>
            <a:r>
              <a:rPr sz="2100" b="0">
                <a:solidFill>
                  <a:srgbClr val="15314A"/>
                </a:solidFill>
                <a:latin typeface="Arial"/>
              </a:rPr>
              <a:t>  test cases, 100% passed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4200" b="1">
                <a:solidFill>
                  <a:srgbClr val="035B98"/>
                </a:solidFill>
                <a:latin typeface="Arial"/>
              </a:rPr>
              <a:t>52</a:t>
            </a:r>
            <a:r>
              <a:rPr sz="2100" b="0">
                <a:solidFill>
                  <a:srgbClr val="15314A"/>
                </a:solidFill>
                <a:latin typeface="Arial"/>
              </a:rPr>
              <a:t>  JUnit methods, 7 services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4200" b="1">
                <a:solidFill>
                  <a:srgbClr val="035B98"/>
                </a:solidFill>
                <a:latin typeface="Arial"/>
              </a:rPr>
              <a:t>6</a:t>
            </a:r>
            <a:r>
              <a:rPr sz="2100" b="0">
                <a:solidFill>
                  <a:srgbClr val="15314A"/>
                </a:solidFill>
                <a:latin typeface="Arial"/>
              </a:rPr>
              <a:t>  integration journeys + panel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4200" b="1">
                <a:solidFill>
                  <a:srgbClr val="035B98"/>
                </a:solidFill>
                <a:latin typeface="Arial"/>
              </a:rPr>
              <a:t>45</a:t>
            </a:r>
            <a:r>
              <a:rPr sz="2100" b="0">
                <a:solidFill>
                  <a:srgbClr val="15314A"/>
                </a:solidFill>
                <a:latin typeface="Arial"/>
              </a:rPr>
              <a:t>  survey users, all 3+ tools</a:t>
            </a:r>
          </a:p>
        </p:txBody>
      </p:sp>
      <p:pic>
        <p:nvPicPr>
          <p:cNvPr id="36" name="Picture 35" descr="ai-response-tim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78875" y="31813500"/>
            <a:ext cx="5334000" cy="370522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1478875" y="35575875"/>
            <a:ext cx="5334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5A6B7B"/>
                </a:solidFill>
                <a:latin typeface="Arial"/>
              </a:rPr>
              <a:t>AI service response times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36118800"/>
            <a:ext cx="118586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5314A"/>
                </a:solidFill>
                <a:latin typeface="Arial"/>
              </a:rPr>
              <a:t>All five objectives met and </a:t>
            </a:r>
            <a:r>
              <a:rPr sz="2100" b="1">
                <a:solidFill>
                  <a:srgbClr val="035B98"/>
                </a:solidFill>
                <a:latin typeface="Arial"/>
              </a:rPr>
              <a:t>pilot-ready</a:t>
            </a:r>
            <a:r>
              <a:rPr sz="2100" b="0">
                <a:solidFill>
                  <a:srgbClr val="15314A"/>
                </a:solidFill>
                <a:latin typeface="Arial"/>
              </a:rPr>
              <a:t>. Next: MMU SSO, mobile app, scale test, committee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